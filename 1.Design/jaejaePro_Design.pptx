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1" autoAdjust="0"/>
    <p:restoredTop sz="94660"/>
  </p:normalViewPr>
  <p:slideViewPr>
    <p:cSldViewPr snapToGrid="0">
      <p:cViewPr varScale="1">
        <p:scale>
          <a:sx n="73" d="100"/>
          <a:sy n="73" d="100"/>
        </p:scale>
        <p:origin x="1406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3337B3-6273-49B8-A305-645D4FACCE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5EB6C06-8D51-4FE0-A9C2-001B253582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F93BDF3-D838-4618-8886-F72C60ED2D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7674F1-4F86-4564-9369-8E04E826D382}" type="datetimeFigureOut">
              <a:rPr lang="ko-KR" altLang="en-US" smtClean="0"/>
              <a:t>2022-04-13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884F612-D929-429B-83BD-6ADB20E9DE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C73F10C-9370-49B9-B70B-9089147533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2093B4-F2D9-457B-8BA8-E32D534131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601340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1673DC6-BACD-4EF6-A1BC-4D03268283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ADFFD8E-BA47-4B01-A289-A78C81A5E3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5CA9815-75D2-4D1B-AC18-28A9184B76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7674F1-4F86-4564-9369-8E04E826D382}" type="datetimeFigureOut">
              <a:rPr lang="ko-KR" altLang="en-US" smtClean="0"/>
              <a:t>2022-04-13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555A217-DB19-44B4-809D-156C80965B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08FB041-BAC2-41ED-9F3F-5BF73BCC7A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2093B4-F2D9-457B-8BA8-E32D534131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19212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6581DA-F00B-46CA-AC7E-3DF361FA8E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4346629-5A86-4620-A19D-85839D2443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F031657-24C9-4D48-BBF2-40D91DB7A9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7674F1-4F86-4564-9369-8E04E826D382}" type="datetimeFigureOut">
              <a:rPr lang="ko-KR" altLang="en-US" smtClean="0"/>
              <a:t>2022-04-13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E5C29E8-6B69-42C2-807A-FF407DC218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2837F80-B6B4-4DB9-9AAB-D623F6E226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2093B4-F2D9-457B-8BA8-E32D534131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35639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7D918F-F168-415A-9F17-D664B3E37E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49C4025-14ED-40BA-A25B-08C75FD3FF0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3DCBBC5-69B5-4B3C-BDE5-67675D08D6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60B8F9A-ADD1-403C-B1F6-8BAF1E74E7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7674F1-4F86-4564-9369-8E04E826D382}" type="datetimeFigureOut">
              <a:rPr lang="ko-KR" altLang="en-US" smtClean="0"/>
              <a:t>2022-04-13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7BB0FBB-2B4A-4A83-980E-C88684580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9BE9BDE-E804-4FB2-A7FE-D5C023EBB8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2093B4-F2D9-457B-8BA8-E32D534131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88458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FDF62E-FB0A-474F-B9AE-A2708F3DC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0C5F64A-16C5-46F5-B018-DC0928C919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81A696E-56B1-4981-B9E2-A7372A7510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E408647-9A19-49B6-BA22-57468B1586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74AAECED-3BA9-48BB-8F8C-0B39B788A60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3CF77698-4FE0-4099-B800-668737A106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7674F1-4F86-4564-9369-8E04E826D382}" type="datetimeFigureOut">
              <a:rPr lang="ko-KR" altLang="en-US" smtClean="0"/>
              <a:t>2022-04-13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DDFFA3A8-A7E2-470A-BC16-1C7479370A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BC63607-9E7A-48DE-9A2C-BF06D2F1FA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2093B4-F2D9-457B-8BA8-E32D534131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04700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0772E81-F3FB-45C7-8513-1E3667A710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9767E69-2DB1-48BD-946A-5AA0F3BA94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7674F1-4F86-4564-9369-8E04E826D382}" type="datetimeFigureOut">
              <a:rPr lang="ko-KR" altLang="en-US" smtClean="0"/>
              <a:t>2022-04-13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DFB4128-C254-4C8F-8BD7-9D04236F9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BCCB3F4-D6BD-4FB9-A4B1-96D8F7AAAF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2093B4-F2D9-457B-8BA8-E32D534131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28246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C775B0E-8CE1-445D-808F-196ADFCDFD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7674F1-4F86-4564-9369-8E04E826D382}" type="datetimeFigureOut">
              <a:rPr lang="ko-KR" altLang="en-US" smtClean="0"/>
              <a:t>2022-04-13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FB20524-AEF8-4130-91C8-EE2616FD2C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8C1DC41-9E36-4DD1-9E24-0F2FA045D0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2093B4-F2D9-457B-8BA8-E32D534131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43177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A3D4184-4C89-405C-A2E5-0E3D1C3CF1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47D9AE2-AE0B-4904-A296-11325BED2C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8CD2A2B-55E5-46FA-A3F1-91FFD55938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E7EEDC0-CC89-4B9B-9D0E-D0B926E9B4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7674F1-4F86-4564-9369-8E04E826D382}" type="datetimeFigureOut">
              <a:rPr lang="ko-KR" altLang="en-US" smtClean="0"/>
              <a:t>2022-04-13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6C6F94C-F085-486F-AF5C-24084A467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6DBF416-C31D-4683-A4B9-2A0FE8AE8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2093B4-F2D9-457B-8BA8-E32D534131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42213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804462F-53BE-4DE3-BFF6-D480A64E62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F8DD5435-750E-4773-B6F4-2CBD25DBA45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3F8CD83-9754-4FE8-AF96-027425D8D6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A328CD2-3C0B-4B7D-8BC6-DB944D29E8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7674F1-4F86-4564-9369-8E04E826D382}" type="datetimeFigureOut">
              <a:rPr lang="ko-KR" altLang="en-US" smtClean="0"/>
              <a:t>2022-04-13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621EBED-6376-4508-B5DA-8A7ABE8C8B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0F4B0A6-B547-4C11-8FCF-BA1C89D5FE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2093B4-F2D9-457B-8BA8-E32D534131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54545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D7F3F1-E6BA-4E5F-9FD3-FCA7C5A1EB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393262B-BC04-47B1-892B-66BB7E134D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07105F9-ACEC-4F33-9046-85F9EDBC0C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7674F1-4F86-4564-9369-8E04E826D382}" type="datetimeFigureOut">
              <a:rPr lang="ko-KR" altLang="en-US" smtClean="0"/>
              <a:t>2022-04-13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A3AFAF9-E697-455A-B97C-8FE9BC89D4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E162C20-28D9-46EA-9421-0D3AE28A4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2093B4-F2D9-457B-8BA8-E32D534131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43350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D82A7870-AA5F-45AA-93B7-D85CF93EF31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0AF6430-6878-4567-89AC-38EEDBE3F4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25B5364-9962-4119-8B68-93F8860BF2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7674F1-4F86-4564-9369-8E04E826D382}" type="datetimeFigureOut">
              <a:rPr lang="ko-KR" altLang="en-US" smtClean="0"/>
              <a:t>2022-04-13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31CD5C6-97D6-4DFC-BA07-585BBC65D2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E71B7D6-0B80-42C5-8083-9C546BA323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2093B4-F2D9-457B-8BA8-E32D534131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60918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249D8EC9-2B9E-4383-9023-1F4ADCEB22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1944B5D-CA8D-45CA-8169-EA683956A9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1D91DDF-711C-4D22-888A-219A76ACE43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7674F1-4F86-4564-9369-8E04E826D382}" type="datetimeFigureOut">
              <a:rPr lang="ko-KR" altLang="en-US" smtClean="0"/>
              <a:t>2022-04-13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7630DFB-5D50-406A-A27B-96DA3D9D813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1E50D2-33BE-4D89-B099-D863A05D43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2093B4-F2D9-457B-8BA8-E32D534131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672591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svg"/><Relationship Id="rId7" Type="http://schemas.openxmlformats.org/officeDocument/2006/relationships/image" Target="../media/image8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5.png"/><Relationship Id="rId9" Type="http://schemas.openxmlformats.org/officeDocument/2006/relationships/image" Target="../media/image10.sv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원통형 3">
            <a:extLst>
              <a:ext uri="{FF2B5EF4-FFF2-40B4-BE49-F238E27FC236}">
                <a16:creationId xmlns:a16="http://schemas.microsoft.com/office/drawing/2014/main" id="{974FB5FE-7D6A-44E7-B3D1-C0B9DA3CAF02}"/>
              </a:ext>
            </a:extLst>
          </p:cNvPr>
          <p:cNvSpPr/>
          <p:nvPr/>
        </p:nvSpPr>
        <p:spPr>
          <a:xfrm>
            <a:off x="9320289" y="2328527"/>
            <a:ext cx="2289936" cy="2002285"/>
          </a:xfrm>
          <a:prstGeom prst="can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데이터 베이스</a:t>
            </a: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C96FF5B2-050B-43E1-9E1B-34BD4FFC68A1}"/>
              </a:ext>
            </a:extLst>
          </p:cNvPr>
          <p:cNvGrpSpPr/>
          <p:nvPr/>
        </p:nvGrpSpPr>
        <p:grpSpPr>
          <a:xfrm>
            <a:off x="279749" y="1758118"/>
            <a:ext cx="2415435" cy="2862957"/>
            <a:chOff x="116911" y="1432441"/>
            <a:chExt cx="2415435" cy="2862957"/>
          </a:xfrm>
        </p:grpSpPr>
        <p:pic>
          <p:nvPicPr>
            <p:cNvPr id="7" name="그래픽 6" descr="여성 프로그래머 단색으로 채워진">
              <a:extLst>
                <a:ext uri="{FF2B5EF4-FFF2-40B4-BE49-F238E27FC236}">
                  <a16:creationId xmlns:a16="http://schemas.microsoft.com/office/drawing/2014/main" id="{769A5C18-E142-4DF3-B17F-34320BC31A9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88309" y="1432441"/>
              <a:ext cx="1528174" cy="1387481"/>
            </a:xfrm>
            <a:prstGeom prst="rect">
              <a:avLst/>
            </a:prstGeom>
          </p:spPr>
        </p:pic>
        <p:pic>
          <p:nvPicPr>
            <p:cNvPr id="8" name="그래픽 7" descr="여성 프로그래머 단색으로 채워진">
              <a:extLst>
                <a:ext uri="{FF2B5EF4-FFF2-40B4-BE49-F238E27FC236}">
                  <a16:creationId xmlns:a16="http://schemas.microsoft.com/office/drawing/2014/main" id="{03F6CEC8-BB7A-423A-B7C0-004384AB3D7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04172" y="2436088"/>
              <a:ext cx="1528174" cy="1387481"/>
            </a:xfrm>
            <a:prstGeom prst="rect">
              <a:avLst/>
            </a:prstGeom>
          </p:spPr>
        </p:pic>
        <p:pic>
          <p:nvPicPr>
            <p:cNvPr id="9" name="그래픽 8" descr="여성 프로그래머 단색으로 채워진">
              <a:extLst>
                <a:ext uri="{FF2B5EF4-FFF2-40B4-BE49-F238E27FC236}">
                  <a16:creationId xmlns:a16="http://schemas.microsoft.com/office/drawing/2014/main" id="{E47C28B1-3CC6-4029-B84B-0843D0766FE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16911" y="2907917"/>
              <a:ext cx="1528174" cy="1387481"/>
            </a:xfrm>
            <a:prstGeom prst="rect">
              <a:avLst/>
            </a:prstGeom>
          </p:spPr>
        </p:pic>
      </p:grpSp>
      <p:grpSp>
        <p:nvGrpSpPr>
          <p:cNvPr id="5" name="그룹 4">
            <a:extLst>
              <a:ext uri="{FF2B5EF4-FFF2-40B4-BE49-F238E27FC236}">
                <a16:creationId xmlns:a16="http://schemas.microsoft.com/office/drawing/2014/main" id="{6D4F32EE-FD4A-4346-94B4-D0A0484C68C2}"/>
              </a:ext>
            </a:extLst>
          </p:cNvPr>
          <p:cNvGrpSpPr/>
          <p:nvPr/>
        </p:nvGrpSpPr>
        <p:grpSpPr>
          <a:xfrm>
            <a:off x="2871711" y="302504"/>
            <a:ext cx="5862181" cy="5862180"/>
            <a:chOff x="2871711" y="302504"/>
            <a:chExt cx="5862181" cy="5862180"/>
          </a:xfrm>
          <a:noFill/>
        </p:grpSpPr>
        <p:sp>
          <p:nvSpPr>
            <p:cNvPr id="2" name="직사각형 1">
              <a:extLst>
                <a:ext uri="{FF2B5EF4-FFF2-40B4-BE49-F238E27FC236}">
                  <a16:creationId xmlns:a16="http://schemas.microsoft.com/office/drawing/2014/main" id="{5B2320AC-0A43-45BE-A9EF-7510DC389D9C}"/>
                </a:ext>
              </a:extLst>
            </p:cNvPr>
            <p:cNvSpPr/>
            <p:nvPr/>
          </p:nvSpPr>
          <p:spPr>
            <a:xfrm>
              <a:off x="2871711" y="302504"/>
              <a:ext cx="5862181" cy="586218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0A709DD3-B1BF-4B2A-B6C7-AA8DFAA6741E}"/>
                </a:ext>
              </a:extLst>
            </p:cNvPr>
            <p:cNvSpPr/>
            <p:nvPr/>
          </p:nvSpPr>
          <p:spPr>
            <a:xfrm>
              <a:off x="3143109" y="1093716"/>
              <a:ext cx="5187743" cy="663879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Controller</a:t>
              </a:r>
              <a:endParaRPr lang="ko-KR" altLang="en-US" dirty="0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F8E6F123-9383-4052-9983-69AC05CE6A18}"/>
                </a:ext>
              </a:extLst>
            </p:cNvPr>
            <p:cNvSpPr/>
            <p:nvPr/>
          </p:nvSpPr>
          <p:spPr>
            <a:xfrm>
              <a:off x="3143109" y="2097886"/>
              <a:ext cx="5187743" cy="663879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Interface</a:t>
              </a:r>
              <a:endParaRPr lang="ko-KR" altLang="en-US" dirty="0"/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832F504D-980F-49B5-A436-B195870EAD10}"/>
                </a:ext>
              </a:extLst>
            </p:cNvPr>
            <p:cNvSpPr/>
            <p:nvPr/>
          </p:nvSpPr>
          <p:spPr>
            <a:xfrm>
              <a:off x="3143109" y="3177420"/>
              <a:ext cx="5187743" cy="663879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Service</a:t>
              </a:r>
              <a:endParaRPr lang="ko-KR" altLang="en-US" dirty="0"/>
            </a:p>
          </p:txBody>
        </p:sp>
      </p:grp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3FD9B67A-BA17-4BC0-8831-1513B84D9C8B}"/>
              </a:ext>
            </a:extLst>
          </p:cNvPr>
          <p:cNvSpPr/>
          <p:nvPr/>
        </p:nvSpPr>
        <p:spPr>
          <a:xfrm>
            <a:off x="3208929" y="4898643"/>
            <a:ext cx="5187743" cy="66387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DB Context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836749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래픽 2" descr="세계 단색으로 채워진">
            <a:extLst>
              <a:ext uri="{FF2B5EF4-FFF2-40B4-BE49-F238E27FC236}">
                <a16:creationId xmlns:a16="http://schemas.microsoft.com/office/drawing/2014/main" id="{1EECA4D4-34AB-4AE2-B008-CDEA37DDFF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06875" y="2921045"/>
            <a:ext cx="1969746" cy="2071255"/>
          </a:xfrm>
          <a:prstGeom prst="rect">
            <a:avLst/>
          </a:prstGeom>
        </p:spPr>
      </p:pic>
      <p:pic>
        <p:nvPicPr>
          <p:cNvPr id="5" name="그래픽 4" descr="세계 윤곽선">
            <a:extLst>
              <a:ext uri="{FF2B5EF4-FFF2-40B4-BE49-F238E27FC236}">
                <a16:creationId xmlns:a16="http://schemas.microsoft.com/office/drawing/2014/main" id="{D4376F62-E85B-4B14-B64F-1B7486D040E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29657" y="2971800"/>
            <a:ext cx="1969746" cy="1969746"/>
          </a:xfrm>
          <a:prstGeom prst="rect">
            <a:avLst/>
          </a:prstGeom>
        </p:spPr>
      </p:pic>
      <p:pic>
        <p:nvPicPr>
          <p:cNvPr id="7" name="그래픽 6" descr="인터넷 단색으로 채워진">
            <a:extLst>
              <a:ext uri="{FF2B5EF4-FFF2-40B4-BE49-F238E27FC236}">
                <a16:creationId xmlns:a16="http://schemas.microsoft.com/office/drawing/2014/main" id="{B344AAAF-2DF1-412F-995C-B5B19F00D8C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071770" y="16164"/>
            <a:ext cx="3412836" cy="341283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7E2F85F-22FD-4946-ABFA-FFA3E75ED052}"/>
              </a:ext>
            </a:extLst>
          </p:cNvPr>
          <p:cNvSpPr txBox="1"/>
          <p:nvPr/>
        </p:nvSpPr>
        <p:spPr>
          <a:xfrm>
            <a:off x="603305" y="4992300"/>
            <a:ext cx="262244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/>
              <a:t>가장 기본 </a:t>
            </a:r>
            <a:r>
              <a:rPr lang="en-US" altLang="ko-KR" dirty="0" err="1"/>
              <a:t>c#</a:t>
            </a:r>
            <a:r>
              <a:rPr lang="en-US" altLang="ko-KR" dirty="0"/>
              <a:t> MVC+EF6</a:t>
            </a:r>
          </a:p>
          <a:p>
            <a:pPr algn="ctr"/>
            <a:r>
              <a:rPr lang="en-US" altLang="ko-KR" dirty="0"/>
              <a:t>(.</a:t>
            </a:r>
            <a:r>
              <a:rPr lang="en-US" altLang="ko-KR" dirty="0" err="1"/>
              <a:t>cshtml+MVC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CC9F09A-7CB6-4131-BE1B-39AB3E77D087}"/>
              </a:ext>
            </a:extLst>
          </p:cNvPr>
          <p:cNvSpPr txBox="1"/>
          <p:nvPr/>
        </p:nvSpPr>
        <p:spPr>
          <a:xfrm>
            <a:off x="3582923" y="4992300"/>
            <a:ext cx="24176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dirty="0" err="1"/>
              <a:t>c#</a:t>
            </a:r>
            <a:r>
              <a:rPr lang="en-US" altLang="ko-KR" dirty="0"/>
              <a:t> </a:t>
            </a:r>
            <a:r>
              <a:rPr lang="en-US" altLang="ko-KR" dirty="0" err="1"/>
              <a:t>ASP.Net</a:t>
            </a:r>
            <a:r>
              <a:rPr lang="en-US" altLang="ko-KR" dirty="0"/>
              <a:t> MVC+EF6</a:t>
            </a:r>
          </a:p>
          <a:p>
            <a:pPr algn="ctr"/>
            <a:r>
              <a:rPr lang="en-US" altLang="ko-KR" dirty="0"/>
              <a:t>(.</a:t>
            </a:r>
            <a:r>
              <a:rPr lang="en-US" altLang="ko-KR" dirty="0" err="1"/>
              <a:t>aspx+MVC</a:t>
            </a:r>
            <a:r>
              <a:rPr lang="en-US" altLang="ko-KR" dirty="0"/>
              <a:t>)</a:t>
            </a:r>
            <a:endParaRPr lang="ko-KR" altLang="en-US" dirty="0"/>
          </a:p>
        </p:txBody>
      </p:sp>
      <p:pic>
        <p:nvPicPr>
          <p:cNvPr id="11" name="그래픽 10" descr="세계 윤곽선">
            <a:extLst>
              <a:ext uri="{FF2B5EF4-FFF2-40B4-BE49-F238E27FC236}">
                <a16:creationId xmlns:a16="http://schemas.microsoft.com/office/drawing/2014/main" id="{CCAE0B82-61EF-43A1-A9E0-A92179A36AE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558154" y="2921045"/>
            <a:ext cx="1969746" cy="196974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A56C5B0-4943-4F6D-9EE8-B266F36435F6}"/>
              </a:ext>
            </a:extLst>
          </p:cNvPr>
          <p:cNvSpPr txBox="1"/>
          <p:nvPr/>
        </p:nvSpPr>
        <p:spPr>
          <a:xfrm>
            <a:off x="6424997" y="4992300"/>
            <a:ext cx="22360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dirty="0"/>
              <a:t>Spring MVC Project</a:t>
            </a:r>
            <a:endParaRPr lang="ko-KR" altLang="en-US" dirty="0"/>
          </a:p>
        </p:txBody>
      </p:sp>
      <p:pic>
        <p:nvPicPr>
          <p:cNvPr id="13" name="그래픽 12" descr="스마트폰 단색으로 채워진">
            <a:extLst>
              <a:ext uri="{FF2B5EF4-FFF2-40B4-BE49-F238E27FC236}">
                <a16:creationId xmlns:a16="http://schemas.microsoft.com/office/drawing/2014/main" id="{A5F31306-A94A-4992-B934-89807B8F4E5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10800000">
            <a:off x="8771790" y="1070874"/>
            <a:ext cx="3420210" cy="3819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70283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2">
            <a:extLst>
              <a:ext uri="{FF2B5EF4-FFF2-40B4-BE49-F238E27FC236}">
                <a16:creationId xmlns:a16="http://schemas.microsoft.com/office/drawing/2014/main" id="{861E305B-D171-4E37-AB94-905916C211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6464847"/>
              </p:ext>
            </p:extLst>
          </p:nvPr>
        </p:nvGraphicFramePr>
        <p:xfrm>
          <a:off x="3811649" y="916540"/>
          <a:ext cx="2046941" cy="50249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46941">
                  <a:extLst>
                    <a:ext uri="{9D8B030D-6E8A-4147-A177-3AD203B41FA5}">
                      <a16:colId xmlns:a16="http://schemas.microsoft.com/office/drawing/2014/main" val="1198671097"/>
                    </a:ext>
                  </a:extLst>
                </a:gridCol>
              </a:tblGrid>
              <a:tr h="54435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err="1"/>
                        <a:t>userTB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72086059"/>
                  </a:ext>
                </a:extLst>
              </a:tr>
              <a:tr h="154965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b="1" dirty="0">
                          <a:solidFill>
                            <a:srgbClr val="FF0000"/>
                          </a:solidFill>
                        </a:rPr>
                        <a:t>UKID</a:t>
                      </a:r>
                    </a:p>
                    <a:p>
                      <a:pPr algn="l" latinLnBrk="1"/>
                      <a:r>
                        <a:rPr lang="en-US" altLang="ko-KR" b="1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USERID</a:t>
                      </a:r>
                    </a:p>
                    <a:p>
                      <a:pPr algn="l" latinLnBrk="1"/>
                      <a:r>
                        <a:rPr lang="en-US" altLang="ko-KR" dirty="0"/>
                        <a:t>USERPASS</a:t>
                      </a:r>
                    </a:p>
                    <a:p>
                      <a:pPr algn="l" latinLnBrk="1"/>
                      <a:r>
                        <a:rPr lang="en-US" altLang="ko-KR" b="1" dirty="0">
                          <a:solidFill>
                            <a:srgbClr val="0000FF"/>
                          </a:solidFill>
                        </a:rPr>
                        <a:t>USERTYPECD</a:t>
                      </a:r>
                    </a:p>
                    <a:p>
                      <a:pPr algn="l" latinLnBrk="1"/>
                      <a:r>
                        <a:rPr lang="en-US" altLang="ko-KR" b="1" dirty="0">
                          <a:solidFill>
                            <a:srgbClr val="0000FF"/>
                          </a:solidFill>
                        </a:rPr>
                        <a:t>AUTHTYPE</a:t>
                      </a:r>
                    </a:p>
                    <a:p>
                      <a:pPr algn="l" latinLnBrk="1"/>
                      <a:r>
                        <a:rPr lang="en-US" altLang="ko-KR" b="1" dirty="0">
                          <a:solidFill>
                            <a:srgbClr val="0000FF"/>
                          </a:solidFill>
                        </a:rPr>
                        <a:t>OFFICETEL1</a:t>
                      </a:r>
                    </a:p>
                    <a:p>
                      <a:pPr algn="l" latinLnBrk="1"/>
                      <a:r>
                        <a:rPr lang="en-US" altLang="ko-KR" dirty="0"/>
                        <a:t>:</a:t>
                      </a:r>
                    </a:p>
                    <a:p>
                      <a:pPr algn="l" latinLnBrk="1"/>
                      <a:r>
                        <a:rPr lang="en-US" altLang="ko-KR" b="1" dirty="0">
                          <a:solidFill>
                            <a:srgbClr val="0000FF"/>
                          </a:solidFill>
                        </a:rPr>
                        <a:t>CELLNO1</a:t>
                      </a:r>
                    </a:p>
                    <a:p>
                      <a:pPr algn="l" latinLnBrk="1"/>
                      <a:r>
                        <a:rPr lang="en-US" altLang="ko-KR" dirty="0"/>
                        <a:t>:</a:t>
                      </a:r>
                    </a:p>
                    <a:p>
                      <a:pPr algn="l" latinLnBrk="1"/>
                      <a:r>
                        <a:rPr lang="en-US" altLang="ko-KR" b="1" dirty="0">
                          <a:solidFill>
                            <a:srgbClr val="0000FF"/>
                          </a:solidFill>
                        </a:rPr>
                        <a:t>ORGNM</a:t>
                      </a:r>
                    </a:p>
                    <a:p>
                      <a:pPr algn="l" latinLnBrk="1"/>
                      <a:r>
                        <a:rPr lang="en-US" altLang="ko-KR" b="1" dirty="0">
                          <a:solidFill>
                            <a:srgbClr val="0000FF"/>
                          </a:solidFill>
                        </a:rPr>
                        <a:t>DIVISONNM</a:t>
                      </a:r>
                    </a:p>
                    <a:p>
                      <a:pPr algn="l" latinLnBrk="1"/>
                      <a:r>
                        <a:rPr lang="en-US" altLang="ko-KR" dirty="0"/>
                        <a:t>:</a:t>
                      </a:r>
                    </a:p>
                    <a:p>
                      <a:pPr algn="l" latinLnBrk="1"/>
                      <a:r>
                        <a:rPr lang="en-US" altLang="ko-KR" b="1" dirty="0">
                          <a:solidFill>
                            <a:srgbClr val="0000FF"/>
                          </a:solidFill>
                        </a:rPr>
                        <a:t>APPTYPE</a:t>
                      </a:r>
                    </a:p>
                    <a:p>
                      <a:pPr algn="l" latinLnBrk="1"/>
                      <a:r>
                        <a:rPr lang="en-US" altLang="ko-KR" dirty="0"/>
                        <a:t>:</a:t>
                      </a:r>
                    </a:p>
                    <a:p>
                      <a:pPr algn="l" latinLnBrk="1"/>
                      <a:r>
                        <a:rPr lang="en-US" altLang="ko-KR" b="1" dirty="0">
                          <a:solidFill>
                            <a:srgbClr val="0000FF"/>
                          </a:solidFill>
                        </a:rPr>
                        <a:t>GENDERCD</a:t>
                      </a:r>
                    </a:p>
                    <a:p>
                      <a:pPr algn="l" latinLnBrk="1"/>
                      <a:r>
                        <a:rPr lang="en-US" altLang="ko-KR" dirty="0"/>
                        <a:t>: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92556911"/>
                  </a:ext>
                </a:extLst>
              </a:tr>
            </a:tbl>
          </a:graphicData>
        </a:graphic>
      </p:graphicFrame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A4C43E53-7A7C-4335-88AA-2B673FA9A3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4150964"/>
              </p:ext>
            </p:extLst>
          </p:nvPr>
        </p:nvGraphicFramePr>
        <p:xfrm>
          <a:off x="6996283" y="221319"/>
          <a:ext cx="2046941" cy="25560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46941">
                  <a:extLst>
                    <a:ext uri="{9D8B030D-6E8A-4147-A177-3AD203B41FA5}">
                      <a16:colId xmlns:a16="http://schemas.microsoft.com/office/drawing/2014/main" val="1198671097"/>
                    </a:ext>
                  </a:extLst>
                </a:gridCol>
              </a:tblGrid>
              <a:tr h="54435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err="1"/>
                        <a:t>tCommonGroup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72086059"/>
                  </a:ext>
                </a:extLst>
              </a:tr>
              <a:tr h="154965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b="1" dirty="0" err="1">
                          <a:solidFill>
                            <a:srgbClr val="FF0000"/>
                          </a:solidFill>
                        </a:rPr>
                        <a:t>GroupIdx</a:t>
                      </a:r>
                      <a:endParaRPr lang="en-US" altLang="ko-KR" b="1" dirty="0">
                        <a:solidFill>
                          <a:srgbClr val="FF0000"/>
                        </a:solidFill>
                      </a:endParaRPr>
                    </a:p>
                    <a:p>
                      <a:pPr algn="l" latinLnBrk="1"/>
                      <a:r>
                        <a:rPr lang="en-US" altLang="ko-KR" dirty="0" err="1"/>
                        <a:t>GroupCode</a:t>
                      </a:r>
                      <a:endParaRPr lang="en-US" altLang="ko-KR" dirty="0"/>
                    </a:p>
                    <a:p>
                      <a:pPr algn="l" latinLnBrk="1"/>
                      <a:r>
                        <a:rPr lang="en-US" altLang="ko-KR" dirty="0" err="1"/>
                        <a:t>GroupCodeNm</a:t>
                      </a:r>
                      <a:endParaRPr lang="en-US" altLang="ko-KR" dirty="0"/>
                    </a:p>
                    <a:p>
                      <a:pPr algn="l" latinLnBrk="1"/>
                      <a:r>
                        <a:rPr lang="en-US" altLang="ko-KR" dirty="0" err="1"/>
                        <a:t>UseYn</a:t>
                      </a:r>
                      <a:endParaRPr lang="en-US" altLang="ko-KR" dirty="0"/>
                    </a:p>
                    <a:p>
                      <a:pPr algn="l" latinLnBrk="1"/>
                      <a:r>
                        <a:rPr lang="en-US" altLang="ko-KR" dirty="0" err="1"/>
                        <a:t>DltYn</a:t>
                      </a:r>
                      <a:endParaRPr lang="en-US" altLang="ko-KR" dirty="0"/>
                    </a:p>
                    <a:p>
                      <a:pPr algn="l" latinLnBrk="1"/>
                      <a:r>
                        <a:rPr lang="en-US" altLang="ko-KR" dirty="0" err="1"/>
                        <a:t>CrtDateTime</a:t>
                      </a:r>
                      <a:endParaRPr lang="en-US" altLang="ko-KR" dirty="0"/>
                    </a:p>
                    <a:p>
                      <a:pPr algn="l" latinLnBrk="1"/>
                      <a:r>
                        <a:rPr lang="en-US" altLang="ko-KR" dirty="0" err="1"/>
                        <a:t>UptDateTime</a:t>
                      </a:r>
                      <a:endParaRPr lang="en-US" altLang="ko-KR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92556911"/>
                  </a:ext>
                </a:extLst>
              </a:tr>
            </a:tbl>
          </a:graphicData>
        </a:graphic>
      </p:graphicFrame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AA1B3509-676F-4695-BDBA-8947376E5A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3860545"/>
              </p:ext>
            </p:extLst>
          </p:nvPr>
        </p:nvGraphicFramePr>
        <p:xfrm>
          <a:off x="7101386" y="3134223"/>
          <a:ext cx="2046941" cy="3378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46941">
                  <a:extLst>
                    <a:ext uri="{9D8B030D-6E8A-4147-A177-3AD203B41FA5}">
                      <a16:colId xmlns:a16="http://schemas.microsoft.com/office/drawing/2014/main" val="1198671097"/>
                    </a:ext>
                  </a:extLst>
                </a:gridCol>
              </a:tblGrid>
              <a:tr h="54435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err="1"/>
                        <a:t>tCommonCode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72086059"/>
                  </a:ext>
                </a:extLst>
              </a:tr>
              <a:tr h="154965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b="1" dirty="0" err="1">
                          <a:solidFill>
                            <a:srgbClr val="FF0000"/>
                          </a:solidFill>
                        </a:rPr>
                        <a:t>CodeIdx</a:t>
                      </a:r>
                      <a:endParaRPr lang="en-US" altLang="ko-KR" b="1" dirty="0">
                        <a:solidFill>
                          <a:srgbClr val="FF0000"/>
                        </a:solidFill>
                      </a:endParaRPr>
                    </a:p>
                    <a:p>
                      <a:pPr algn="l" latinLnBrk="1"/>
                      <a:r>
                        <a:rPr lang="en-US" altLang="ko-KR" b="1" dirty="0" err="1">
                          <a:solidFill>
                            <a:srgbClr val="0000FF"/>
                          </a:solidFill>
                        </a:rPr>
                        <a:t>GroupIdx</a:t>
                      </a:r>
                      <a:endParaRPr lang="en-US" altLang="ko-KR" b="1" dirty="0">
                        <a:solidFill>
                          <a:srgbClr val="0000FF"/>
                        </a:solidFill>
                      </a:endParaRPr>
                    </a:p>
                    <a:p>
                      <a:pPr algn="l" latinLnBrk="1"/>
                      <a:r>
                        <a:rPr lang="en-US" altLang="ko-KR" dirty="0" err="1"/>
                        <a:t>GroupCode</a:t>
                      </a:r>
                      <a:endParaRPr lang="en-US" altLang="ko-KR" dirty="0"/>
                    </a:p>
                    <a:p>
                      <a:pPr algn="l" latinLnBrk="1"/>
                      <a:r>
                        <a:rPr lang="en-US" altLang="ko-KR" dirty="0" err="1"/>
                        <a:t>CommonCode</a:t>
                      </a:r>
                      <a:endParaRPr lang="en-US" altLang="ko-KR" dirty="0"/>
                    </a:p>
                    <a:p>
                      <a:pPr algn="l" latinLnBrk="1"/>
                      <a:r>
                        <a:rPr lang="en-US" altLang="ko-KR" dirty="0" err="1"/>
                        <a:t>CodeName</a:t>
                      </a:r>
                      <a:endParaRPr lang="en-US" altLang="ko-KR" dirty="0"/>
                    </a:p>
                    <a:p>
                      <a:pPr algn="l" latinLnBrk="1"/>
                      <a:r>
                        <a:rPr lang="en-US" altLang="ko-KR" dirty="0" err="1"/>
                        <a:t>DisplayOrder</a:t>
                      </a:r>
                      <a:endParaRPr lang="en-US" altLang="ko-KR" dirty="0"/>
                    </a:p>
                    <a:p>
                      <a:pPr algn="l" latinLnBrk="1"/>
                      <a:r>
                        <a:rPr lang="en-US" altLang="ko-KR" dirty="0" err="1"/>
                        <a:t>UseYn</a:t>
                      </a:r>
                      <a:endParaRPr lang="en-US" altLang="ko-KR" dirty="0"/>
                    </a:p>
                    <a:p>
                      <a:pPr algn="l" latinLnBrk="1"/>
                      <a:r>
                        <a:rPr lang="en-US" altLang="ko-KR" dirty="0" err="1"/>
                        <a:t>DltYn</a:t>
                      </a:r>
                      <a:endParaRPr lang="en-US" altLang="ko-KR" dirty="0"/>
                    </a:p>
                    <a:p>
                      <a:pPr algn="l" latinLnBrk="1"/>
                      <a:r>
                        <a:rPr lang="en-US" altLang="ko-KR" dirty="0" err="1"/>
                        <a:t>CrtDateTime</a:t>
                      </a:r>
                      <a:endParaRPr lang="en-US" altLang="ko-KR" dirty="0"/>
                    </a:p>
                    <a:p>
                      <a:pPr algn="l" latinLnBrk="1"/>
                      <a:r>
                        <a:rPr lang="en-US" altLang="ko-KR" dirty="0" err="1"/>
                        <a:t>UptDateTime</a:t>
                      </a:r>
                      <a:endParaRPr lang="en-US" altLang="ko-KR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925569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394192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71</Words>
  <Application>Microsoft Office PowerPoint</Application>
  <PresentationFormat>와이드스크린</PresentationFormat>
  <Paragraphs>46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6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서지애</dc:creator>
  <cp:lastModifiedBy>서지애</cp:lastModifiedBy>
  <cp:revision>16</cp:revision>
  <dcterms:created xsi:type="dcterms:W3CDTF">2022-03-28T05:13:42Z</dcterms:created>
  <dcterms:modified xsi:type="dcterms:W3CDTF">2022-04-13T08:49:19Z</dcterms:modified>
</cp:coreProperties>
</file>